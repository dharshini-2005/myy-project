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70" r:id="rId5"/>
    <p:sldId id="259" r:id="rId6"/>
    <p:sldId id="260" r:id="rId7"/>
    <p:sldId id="261" r:id="rId8"/>
    <p:sldId id="262" r:id="rId9"/>
    <p:sldId id="271" r:id="rId10"/>
    <p:sldId id="272" r:id="rId11"/>
    <p:sldId id="263" r:id="rId12"/>
    <p:sldId id="266" r:id="rId13"/>
    <p:sldId id="267"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74" autoAdjust="0"/>
  </p:normalViewPr>
  <p:slideViewPr>
    <p:cSldViewPr snapToGrid="0">
      <p:cViewPr>
        <p:scale>
          <a:sx n="87" d="100"/>
          <a:sy n="87" d="100"/>
        </p:scale>
        <p:origin x="49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A7B837-C5AE-4F04-BCDA-F21F0BA70B39}"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EB8C9-8C0C-4DB8-95B2-8BCA96937C7B}" type="slidenum">
              <a:rPr lang="en-IN" smtClean="0"/>
              <a:t>‹#›</a:t>
            </a:fld>
            <a:endParaRPr lang="en-IN"/>
          </a:p>
        </p:txBody>
      </p:sp>
    </p:spTree>
    <p:extLst>
      <p:ext uri="{BB962C8B-B14F-4D97-AF65-F5344CB8AC3E}">
        <p14:creationId xmlns:p14="http://schemas.microsoft.com/office/powerpoint/2010/main" val="1040953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B7828A-6D6B-4C46-8ABE-D051A08C2DE1}" type="datetime1">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2987796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E393438-67B8-4262-B2F1-9984AFF131E1}" type="datetime1">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1425414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A054ADA-6AC7-4379-AE91-F3398FF045BE}" type="datetime1">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412195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7BF563E-B5DC-431B-B4D0-C940763D0DE6}" type="datetime1">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635231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AF2842F-AC22-4682-AAA4-E46A164971AD}" type="datetime1">
              <a:rPr lang="en-IN" smtClean="0"/>
              <a:t>06-03-2026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3948116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894C9F1-D255-40FF-A808-449CB3C333C9}" type="datetime1">
              <a:rPr lang="en-IN" smtClean="0"/>
              <a:t>06-03-2026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3511234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1065F4-9D49-466F-B5D3-3E5BE6953EEA}" type="datetime1">
              <a:rPr lang="en-IN" smtClean="0"/>
              <a:t>06-03-2026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421139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2610766-6C17-40F5-BC3D-D541FFE859D3}" type="datetime1">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1633870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B39714A-0EA7-43CF-A789-B500D515588B}" type="datetime1">
              <a:rPr lang="en-IN" smtClean="0"/>
              <a:t>06-03-2026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933830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3873E0-F0DC-47B8-97FD-A28116D832F0}" type="datetime1">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3623424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BFBFDF-F63D-4B6B-9C65-D06619F1DDBE}" type="datetime1">
              <a:rPr lang="en-IN" smtClean="0"/>
              <a:t>06-03-2026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a:t>
            </a:fld>
            <a:endParaRPr lang="en-IN"/>
          </a:p>
        </p:txBody>
      </p:sp>
    </p:spTree>
    <p:extLst>
      <p:ext uri="{BB962C8B-B14F-4D97-AF65-F5344CB8AC3E}">
        <p14:creationId xmlns:p14="http://schemas.microsoft.com/office/powerpoint/2010/main" val="153317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77372A-8801-419B-B26E-3CAAF3336438}" type="datetime1">
              <a:rPr lang="en-IN" smtClean="0"/>
              <a:t>06-03-2026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13B45-0786-488C-9F83-DB626DC1C02A}" type="slidenum">
              <a:rPr lang="en-IN" smtClean="0"/>
              <a:t>‹#›</a:t>
            </a:fld>
            <a:endParaRPr lang="en-IN"/>
          </a:p>
        </p:txBody>
      </p:sp>
    </p:spTree>
    <p:extLst>
      <p:ext uri="{BB962C8B-B14F-4D97-AF65-F5344CB8AC3E}">
        <p14:creationId xmlns:p14="http://schemas.microsoft.com/office/powerpoint/2010/main" val="3253778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77258" y="3174387"/>
            <a:ext cx="9826171" cy="1658869"/>
          </a:xfrm>
        </p:spPr>
        <p:txBody>
          <a:bodyPr/>
          <a:lstStyle/>
          <a:p>
            <a:pPr lvl="0"/>
            <a:r>
              <a:rPr lang="en-IN" b="1" dirty="0"/>
              <a:t>Course name /Course code:   Innovative multidisciplinary Project, Project with Design Thinking &amp; Final Year Project</a:t>
            </a:r>
          </a:p>
          <a:p>
            <a:r>
              <a:rPr lang="en-US" b="1" dirty="0">
                <a:solidFill>
                  <a:srgbClr val="4E18E8"/>
                </a:solidFill>
                <a:latin typeface="Times New Roman" pitchFamily="18" charset="0"/>
                <a:cs typeface="Times New Roman" pitchFamily="18" charset="0"/>
              </a:rPr>
              <a:t>Title of the project :</a:t>
            </a:r>
            <a:r>
              <a:rPr lang="en-US" b="1" dirty="0" err="1">
                <a:solidFill>
                  <a:srgbClr val="4E18E8"/>
                </a:solidFill>
                <a:latin typeface="Times New Roman" pitchFamily="18" charset="0"/>
                <a:cs typeface="Times New Roman" pitchFamily="18" charset="0"/>
              </a:rPr>
              <a:t>Estimatrix</a:t>
            </a:r>
            <a:r>
              <a:rPr lang="en-US" b="1" dirty="0">
                <a:solidFill>
                  <a:srgbClr val="4E18E8"/>
                </a:solidFill>
                <a:latin typeface="Times New Roman" pitchFamily="18" charset="0"/>
                <a:cs typeface="Times New Roman" pitchFamily="18" charset="0"/>
              </a:rPr>
              <a:t>-Predicting project cost and Timeline</a:t>
            </a:r>
            <a:endParaRPr lang="en-IN" b="1" dirty="0">
              <a:solidFill>
                <a:srgbClr val="4E18E8"/>
              </a:solidFill>
              <a:latin typeface="Times New Roman" pitchFamily="18" charset="0"/>
              <a:cs typeface="Times New Roman" pitchFamily="18" charset="0"/>
            </a:endParaRPr>
          </a:p>
          <a:p>
            <a:pPr lvl="0"/>
            <a:endParaRPr lang="en-IN" dirty="0"/>
          </a:p>
          <a:p>
            <a:endParaRPr lang="en-IN" dirty="0"/>
          </a:p>
        </p:txBody>
      </p:sp>
      <p:pic>
        <p:nvPicPr>
          <p:cNvPr id="4" name="Image 1"/>
          <p:cNvPicPr/>
          <p:nvPr/>
        </p:nvPicPr>
        <p:blipFill>
          <a:blip r:embed="rId2" cstate="print"/>
          <a:stretch>
            <a:fillRect/>
          </a:stretch>
        </p:blipFill>
        <p:spPr>
          <a:xfrm>
            <a:off x="1930401" y="459763"/>
            <a:ext cx="9173028" cy="1141049"/>
          </a:xfrm>
          <a:prstGeom prst="rect">
            <a:avLst/>
          </a:prstGeom>
        </p:spPr>
      </p:pic>
      <p:sp>
        <p:nvSpPr>
          <p:cNvPr id="5" name="Rectangle 3"/>
          <p:cNvSpPr>
            <a:spLocks noChangeArrowheads="1"/>
          </p:cNvSpPr>
          <p:nvPr/>
        </p:nvSpPr>
        <p:spPr bwMode="auto">
          <a:xfrm>
            <a:off x="1732642" y="2367870"/>
            <a:ext cx="8274050" cy="460375"/>
          </a:xfrm>
          <a:prstGeom prst="rect">
            <a:avLst/>
          </a:prstGeom>
          <a:solidFill>
            <a:srgbClr val="FFFF00"/>
          </a:solid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b="1" dirty="0">
                <a:solidFill>
                  <a:srgbClr val="C00000"/>
                </a:solidFill>
                <a:latin typeface="Calibri" panose="020F0502020204030204" pitchFamily="34" charset="0"/>
              </a:rPr>
              <a:t>Department of  Computer Science and Business Systems</a:t>
            </a:r>
            <a:endParaRPr lang="en-US" altLang="en-US" sz="2400" dirty="0">
              <a:solidFill>
                <a:srgbClr val="C00000"/>
              </a:solidFill>
              <a:latin typeface="Calibri" panose="020F0502020204030204" pitchFamily="34" charset="0"/>
            </a:endParaRPr>
          </a:p>
        </p:txBody>
      </p:sp>
      <p:sp>
        <p:nvSpPr>
          <p:cNvPr id="6" name="Date Placeholder 5"/>
          <p:cNvSpPr>
            <a:spLocks noGrp="1"/>
          </p:cNvSpPr>
          <p:nvPr>
            <p:ph type="dt" sz="half" idx="10"/>
          </p:nvPr>
        </p:nvSpPr>
        <p:spPr/>
        <p:txBody>
          <a:bodyPr/>
          <a:lstStyle/>
          <a:p>
            <a:fld id="{15A506F6-EB48-4C5C-86DD-218849BE139D}" type="datetime1">
              <a:rPr lang="en-IN" smtClean="0"/>
              <a:t>06-03-2026</a:t>
            </a:fld>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1</a:t>
            </a:fld>
            <a:endParaRPr lang="en-IN"/>
          </a:p>
        </p:txBody>
      </p:sp>
    </p:spTree>
    <p:extLst>
      <p:ext uri="{BB962C8B-B14F-4D97-AF65-F5344CB8AC3E}">
        <p14:creationId xmlns:p14="http://schemas.microsoft.com/office/powerpoint/2010/main" val="1236915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p:cNvPicPr/>
          <p:nvPr/>
        </p:nvPicPr>
        <p:blipFill>
          <a:blip r:embed="rId2" cstate="print"/>
          <a:stretch>
            <a:fillRect/>
          </a:stretch>
        </p:blipFill>
        <p:spPr>
          <a:xfrm>
            <a:off x="1393372" y="169477"/>
            <a:ext cx="9173028" cy="1141049"/>
          </a:xfrm>
          <a:prstGeom prst="rect">
            <a:avLst/>
          </a:prstGeom>
        </p:spPr>
      </p:pic>
      <p:sp>
        <p:nvSpPr>
          <p:cNvPr id="6" name="Date Placeholder 5"/>
          <p:cNvSpPr>
            <a:spLocks noGrp="1"/>
          </p:cNvSpPr>
          <p:nvPr>
            <p:ph type="dt" sz="half" idx="10"/>
          </p:nvPr>
        </p:nvSpPr>
        <p:spPr/>
        <p:txBody>
          <a:bodyPr/>
          <a:lstStyle/>
          <a:p>
            <a:fld id="{DCBCF9AA-05F0-4C1B-8C99-9B7227F94A5F}" type="datetime1">
              <a:rPr lang="en-IN" smtClean="0"/>
              <a:t>06-03-2026</a:t>
            </a:fld>
            <a:endParaRPr lang="en-IN"/>
          </a:p>
        </p:txBody>
      </p:sp>
      <p:sp>
        <p:nvSpPr>
          <p:cNvPr id="7" name="Slide Number Placeholder 6"/>
          <p:cNvSpPr>
            <a:spLocks noGrp="1"/>
          </p:cNvSpPr>
          <p:nvPr>
            <p:ph type="sldNum" sz="quarter" idx="12"/>
          </p:nvPr>
        </p:nvSpPr>
        <p:spPr/>
        <p:txBody>
          <a:bodyPr/>
          <a:lstStyle/>
          <a:p>
            <a:fld id="{FF913B45-0786-488C-9F83-DB626DC1C02A}" type="slidenum">
              <a:rPr lang="en-IN" smtClean="0"/>
              <a:t>2</a:t>
            </a:fld>
            <a:endParaRPr lang="en-IN"/>
          </a:p>
        </p:txBody>
      </p:sp>
      <p:graphicFrame>
        <p:nvGraphicFramePr>
          <p:cNvPr id="8" name="Table 7"/>
          <p:cNvGraphicFramePr>
            <a:graphicFrameLocks noGrp="1"/>
          </p:cNvGraphicFramePr>
          <p:nvPr>
            <p:extLst>
              <p:ext uri="{D42A27DB-BD31-4B8C-83A1-F6EECF244321}">
                <p14:modId xmlns:p14="http://schemas.microsoft.com/office/powerpoint/2010/main" val="1034074271"/>
              </p:ext>
            </p:extLst>
          </p:nvPr>
        </p:nvGraphicFramePr>
        <p:xfrm>
          <a:off x="2012105" y="1598021"/>
          <a:ext cx="8167790" cy="4858046"/>
        </p:xfrm>
        <a:graphic>
          <a:graphicData uri="http://schemas.openxmlformats.org/drawingml/2006/table">
            <a:tbl>
              <a:tblPr firstRow="1" bandRow="1">
                <a:tableStyleId>{5C22544A-7EE6-4342-B048-85BDC9FD1C3A}</a:tableStyleId>
              </a:tblPr>
              <a:tblGrid>
                <a:gridCol w="3924238">
                  <a:extLst>
                    <a:ext uri="{9D8B030D-6E8A-4147-A177-3AD203B41FA5}">
                      <a16:colId xmlns:a16="http://schemas.microsoft.com/office/drawing/2014/main" val="1213207966"/>
                    </a:ext>
                  </a:extLst>
                </a:gridCol>
                <a:gridCol w="290286">
                  <a:extLst>
                    <a:ext uri="{9D8B030D-6E8A-4147-A177-3AD203B41FA5}">
                      <a16:colId xmlns:a16="http://schemas.microsoft.com/office/drawing/2014/main" val="4103485065"/>
                    </a:ext>
                  </a:extLst>
                </a:gridCol>
                <a:gridCol w="3953266">
                  <a:extLst>
                    <a:ext uri="{9D8B030D-6E8A-4147-A177-3AD203B41FA5}">
                      <a16:colId xmlns:a16="http://schemas.microsoft.com/office/drawing/2014/main" val="2777086463"/>
                    </a:ext>
                  </a:extLst>
                </a:gridCol>
              </a:tblGrid>
              <a:tr h="377373">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Class / Section / Semester </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III-CSBS -VI</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2794595622"/>
                  </a:ext>
                </a:extLst>
              </a:tr>
              <a:tr h="377373">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Batch</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 2023-2027</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1241371019"/>
                  </a:ext>
                </a:extLst>
              </a:tr>
              <a:tr h="377373">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Project Review </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smtClean="0">
                          <a:solidFill>
                            <a:srgbClr val="4E18E8"/>
                          </a:solidFill>
                          <a:latin typeface="Times New Roman" pitchFamily="18" charset="0"/>
                          <a:ea typeface="+mn-ea"/>
                          <a:cs typeface="Times New Roman" pitchFamily="18" charset="0"/>
                        </a:rPr>
                        <a:t> Second Review</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1649452074"/>
                  </a:ext>
                </a:extLst>
              </a:tr>
              <a:tr h="377373">
                <a:tc>
                  <a:txBody>
                    <a:bodyPr/>
                    <a:lstStyle/>
                    <a:p>
                      <a:pPr marL="0" algn="l" defTabSz="914400" rtl="0" eaLnBrk="1" latinLnBrk="0" hangingPunct="1">
                        <a:spcAft>
                          <a:spcPts val="0"/>
                        </a:spcAft>
                      </a:pP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3838151987"/>
                  </a:ext>
                </a:extLst>
              </a:tr>
              <a:tr h="377373">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Date</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 </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1031390145"/>
                  </a:ext>
                </a:extLst>
              </a:tr>
              <a:tr h="683883">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Project Guide with Designation</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IN" sz="1800" b="1" kern="1200" dirty="0" err="1">
                          <a:solidFill>
                            <a:srgbClr val="4E18E8"/>
                          </a:solidFill>
                          <a:latin typeface="Times New Roman" pitchFamily="18" charset="0"/>
                          <a:ea typeface="+mn-ea"/>
                          <a:cs typeface="Times New Roman" pitchFamily="18" charset="0"/>
                        </a:rPr>
                        <a:t>Dr.K.Cholaraja</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2459626104"/>
                  </a:ext>
                </a:extLst>
              </a:tr>
              <a:tr h="683883">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Name of the Industry ( if applicable)</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dirty="0">
                          <a:solidFill>
                            <a:srgbClr val="4E18E8"/>
                          </a:solidFill>
                          <a:latin typeface="Times New Roman" pitchFamily="18" charset="0"/>
                          <a:ea typeface="+mn-ea"/>
                          <a:cs typeface="Times New Roman" pitchFamily="18" charset="0"/>
                        </a:rPr>
                        <a:t>IT Industry</a:t>
                      </a:r>
                      <a:endParaRPr lang="en-IN" sz="1800" b="1" kern="1200" dirty="0">
                        <a:solidFill>
                          <a:srgbClr val="4E18E8"/>
                        </a:solidFill>
                        <a:latin typeface="Times New Roman" pitchFamily="18" charset="0"/>
                        <a:ea typeface="+mn-ea"/>
                        <a:cs typeface="Times New Roman" pitchFamily="18" charset="0"/>
                      </a:endParaRPr>
                    </a:p>
                  </a:txBody>
                  <a:tcPr marL="84560" marR="84560" marT="42280" marB="42280">
                    <a:noFill/>
                  </a:tcPr>
                </a:tc>
                <a:extLst>
                  <a:ext uri="{0D108BD9-81ED-4DB2-BD59-A6C34878D82A}">
                    <a16:rowId xmlns:a16="http://schemas.microsoft.com/office/drawing/2014/main" val="1308778691"/>
                  </a:ext>
                </a:extLst>
              </a:tr>
              <a:tr h="1603415">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Team Members</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algn="l" defTabSz="914400" rtl="0" eaLnBrk="1" latinLnBrk="0" hangingPunct="1">
                        <a:spcAft>
                          <a:spcPts val="0"/>
                        </a:spcAft>
                      </a:pPr>
                      <a:r>
                        <a:rPr lang="en-US" sz="1800" b="1" kern="1200">
                          <a:solidFill>
                            <a:srgbClr val="4E18E8"/>
                          </a:solidFill>
                          <a:latin typeface="Times New Roman" pitchFamily="18" charset="0"/>
                          <a:ea typeface="+mn-ea"/>
                          <a:cs typeface="Times New Roman" pitchFamily="18" charset="0"/>
                        </a:rPr>
                        <a:t>:</a:t>
                      </a:r>
                      <a:endParaRPr lang="en-IN" sz="1800" b="1" kern="1200">
                        <a:solidFill>
                          <a:srgbClr val="4E18E8"/>
                        </a:solidFill>
                        <a:latin typeface="Times New Roman" pitchFamily="18" charset="0"/>
                        <a:ea typeface="+mn-ea"/>
                        <a:cs typeface="Times New Roman" pitchFamily="18" charset="0"/>
                      </a:endParaRPr>
                    </a:p>
                  </a:txBody>
                  <a:tcPr marL="84560" marR="84560" marT="42280" marB="42280">
                    <a:noFill/>
                  </a:tcPr>
                </a:tc>
                <a:tc>
                  <a:txBody>
                    <a:bodyPr/>
                    <a:lstStyle/>
                    <a:p>
                      <a:pPr marL="0" lvl="0" indent="-342900" algn="l" defTabSz="914400" rtl="0" eaLnBrk="1" latinLnBrk="0" hangingPunct="1">
                        <a:spcAft>
                          <a:spcPts val="0"/>
                        </a:spcAft>
                        <a:tabLst>
                          <a:tab pos="457200" algn="l"/>
                        </a:tabLst>
                      </a:pPr>
                      <a:r>
                        <a:rPr lang="en-IN" sz="1800" b="1" kern="1200" dirty="0" err="1">
                          <a:solidFill>
                            <a:srgbClr val="FF0000"/>
                          </a:solidFill>
                          <a:latin typeface="Times New Roman" pitchFamily="18" charset="0"/>
                          <a:ea typeface="+mn-ea"/>
                          <a:cs typeface="Times New Roman" pitchFamily="18" charset="0"/>
                        </a:rPr>
                        <a:t>Adriannaa</a:t>
                      </a:r>
                      <a:r>
                        <a:rPr lang="en-IN" sz="1800" b="1" kern="1200" dirty="0">
                          <a:solidFill>
                            <a:srgbClr val="FF0000"/>
                          </a:solidFill>
                          <a:latin typeface="Times New Roman" pitchFamily="18" charset="0"/>
                          <a:ea typeface="+mn-ea"/>
                          <a:cs typeface="Times New Roman" pitchFamily="18" charset="0"/>
                        </a:rPr>
                        <a:t> Anand</a:t>
                      </a:r>
                    </a:p>
                    <a:p>
                      <a:pPr marL="0" lvl="0" indent="-342900" algn="l" defTabSz="914400" rtl="0" eaLnBrk="1" latinLnBrk="0" hangingPunct="1">
                        <a:spcAft>
                          <a:spcPts val="0"/>
                        </a:spcAft>
                        <a:tabLst>
                          <a:tab pos="457200" algn="l"/>
                        </a:tabLst>
                      </a:pPr>
                      <a:r>
                        <a:rPr lang="en-IN" sz="1800" b="1" kern="1200" dirty="0">
                          <a:solidFill>
                            <a:srgbClr val="FF0000"/>
                          </a:solidFill>
                          <a:latin typeface="Times New Roman" pitchFamily="18" charset="0"/>
                          <a:ea typeface="+mn-ea"/>
                          <a:cs typeface="Times New Roman" pitchFamily="18" charset="0"/>
                        </a:rPr>
                        <a:t>Dharshini</a:t>
                      </a:r>
                    </a:p>
                    <a:p>
                      <a:pPr marL="0" lvl="0" indent="-342900" algn="l" defTabSz="914400" rtl="0" eaLnBrk="1" latinLnBrk="0" hangingPunct="1">
                        <a:spcAft>
                          <a:spcPts val="0"/>
                        </a:spcAft>
                        <a:tabLst>
                          <a:tab pos="457200" algn="l"/>
                        </a:tabLst>
                      </a:pPr>
                      <a:r>
                        <a:rPr lang="en-IN" sz="1800" b="1" kern="1200" dirty="0">
                          <a:solidFill>
                            <a:srgbClr val="FF0000"/>
                          </a:solidFill>
                          <a:latin typeface="Times New Roman" pitchFamily="18" charset="0"/>
                          <a:ea typeface="+mn-ea"/>
                          <a:cs typeface="Times New Roman" pitchFamily="18" charset="0"/>
                        </a:rPr>
                        <a:t>Vaishnav</a:t>
                      </a:r>
                    </a:p>
                    <a:p>
                      <a:pPr marL="0" lvl="0" indent="-342900" algn="l" defTabSz="914400" rtl="0" eaLnBrk="1" latinLnBrk="0" hangingPunct="1">
                        <a:spcAft>
                          <a:spcPts val="0"/>
                        </a:spcAft>
                        <a:tabLst>
                          <a:tab pos="457200" algn="l"/>
                        </a:tabLst>
                      </a:pPr>
                      <a:r>
                        <a:rPr lang="en-IN" sz="1800" b="1" kern="1200" dirty="0">
                          <a:solidFill>
                            <a:srgbClr val="FF0000"/>
                          </a:solidFill>
                          <a:latin typeface="Times New Roman" pitchFamily="18" charset="0"/>
                          <a:ea typeface="+mn-ea"/>
                          <a:cs typeface="Times New Roman" pitchFamily="18" charset="0"/>
                        </a:rPr>
                        <a:t>Aravindh</a:t>
                      </a:r>
                    </a:p>
                  </a:txBody>
                  <a:tcPr marL="84560" marR="84560" marT="42280" marB="42280">
                    <a:noFill/>
                  </a:tcPr>
                </a:tc>
                <a:extLst>
                  <a:ext uri="{0D108BD9-81ED-4DB2-BD59-A6C34878D82A}">
                    <a16:rowId xmlns:a16="http://schemas.microsoft.com/office/drawing/2014/main" val="2610489306"/>
                  </a:ext>
                </a:extLst>
              </a:tr>
            </a:tbl>
          </a:graphicData>
        </a:graphic>
      </p:graphicFrame>
    </p:spTree>
    <p:extLst>
      <p:ext uri="{BB962C8B-B14F-4D97-AF65-F5344CB8AC3E}">
        <p14:creationId xmlns:p14="http://schemas.microsoft.com/office/powerpoint/2010/main" val="52420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title"/>
          </p:nvPr>
        </p:nvSpPr>
        <p:spPr bwMode="auto">
          <a:xfrm>
            <a:off x="838200" y="450229"/>
            <a:ext cx="10515600"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800" b="1" dirty="0">
              <a:latin typeface="Calibri" panose="020F0502020204030204" pitchFamily="34" charset="0"/>
            </a:endParaRPr>
          </a:p>
          <a:p>
            <a:pPr algn="ctr" eaLnBrk="1" hangingPunct="1"/>
            <a:r>
              <a:rPr lang="en-US" altLang="en-US" sz="3200" b="1" dirty="0">
                <a:solidFill>
                  <a:srgbClr val="7030A0"/>
                </a:solidFill>
                <a:latin typeface="Times New Roman" panose="02020603050405020304" pitchFamily="18" charset="0"/>
                <a:cs typeface="Times New Roman" panose="02020603050405020304" pitchFamily="18" charset="0"/>
              </a:rPr>
              <a:t>CHALLENGE STATEMENT</a:t>
            </a:r>
          </a:p>
          <a:p>
            <a:pPr algn="ctr" eaLnBrk="1" hangingPunct="1"/>
            <a:endParaRPr lang="en-US" altLang="en-US" sz="2000" b="1" dirty="0">
              <a:latin typeface="Calibri" panose="020F0502020204030204" pitchFamily="34" charset="0"/>
            </a:endParaRPr>
          </a:p>
          <a:p>
            <a:pPr algn="ctr" eaLnBrk="1" hangingPunct="1"/>
            <a:endParaRPr lang="en-US" altLang="en-US" sz="1200" dirty="0">
              <a:latin typeface="Calibri" panose="020F0502020204030204" pitchFamily="34" charset="0"/>
            </a:endParaRPr>
          </a:p>
          <a:p>
            <a:pPr algn="ctr" eaLnBrk="1" hangingPunct="1"/>
            <a:endParaRPr lang="en-US" altLang="en-US" sz="1200" dirty="0">
              <a:latin typeface="Calibri" panose="020F0502020204030204" pitchFamily="34" charset="0"/>
            </a:endParaRPr>
          </a:p>
        </p:txBody>
      </p:sp>
      <p:sp>
        <p:nvSpPr>
          <p:cNvPr id="5" name="Date Placeholder 4"/>
          <p:cNvSpPr>
            <a:spLocks noGrp="1"/>
          </p:cNvSpPr>
          <p:nvPr>
            <p:ph type="dt" sz="half" idx="10"/>
          </p:nvPr>
        </p:nvSpPr>
        <p:spPr/>
        <p:txBody>
          <a:bodyPr/>
          <a:lstStyle/>
          <a:p>
            <a:fld id="{FBF64BED-58D3-4CB4-B7D2-07325763572E}" type="datetime1">
              <a:rPr lang="en-IN" smtClean="0"/>
              <a:t>06-03-2026</a:t>
            </a:fld>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3</a:t>
            </a:fld>
            <a:endParaRPr lang="en-IN"/>
          </a:p>
        </p:txBody>
      </p:sp>
      <p:sp>
        <p:nvSpPr>
          <p:cNvPr id="3" name="TextBox 2">
            <a:extLst>
              <a:ext uri="{FF2B5EF4-FFF2-40B4-BE49-F238E27FC236}">
                <a16:creationId xmlns:a16="http://schemas.microsoft.com/office/drawing/2014/main" id="{8B843D45-79E3-195C-F6F4-FF7C216C4717}"/>
              </a:ext>
            </a:extLst>
          </p:cNvPr>
          <p:cNvSpPr txBox="1"/>
          <p:nvPr/>
        </p:nvSpPr>
        <p:spPr>
          <a:xfrm>
            <a:off x="639097" y="1619383"/>
            <a:ext cx="6931742" cy="4524315"/>
          </a:xfrm>
          <a:prstGeom prst="rect">
            <a:avLst/>
          </a:prstGeom>
          <a:noFill/>
        </p:spPr>
        <p:txBody>
          <a:bodyPr wrap="square">
            <a:spAutoFit/>
          </a:bodyPr>
          <a:lstStyle/>
          <a:p>
            <a:r>
              <a:rPr lang="en-IN" sz="2400" dirty="0"/>
              <a:t>In software development and engineering industries, inaccurate estimation of project cost and completion time leads to:</a:t>
            </a:r>
          </a:p>
          <a:p>
            <a:pPr marL="342900" indent="-342900">
              <a:buFont typeface="Arial" panose="020B0604020202020204" pitchFamily="34" charset="0"/>
              <a:buChar char="•"/>
            </a:pPr>
            <a:r>
              <a:rPr lang="en-IN" sz="2400" dirty="0"/>
              <a:t>Budget overruns</a:t>
            </a:r>
          </a:p>
          <a:p>
            <a:pPr marL="342900" indent="-342900">
              <a:buFont typeface="Arial" panose="020B0604020202020204" pitchFamily="34" charset="0"/>
              <a:buChar char="•"/>
            </a:pPr>
            <a:r>
              <a:rPr lang="en-IN" sz="2400" dirty="0"/>
              <a:t>Project delays</a:t>
            </a:r>
          </a:p>
          <a:p>
            <a:pPr marL="342900" indent="-342900">
              <a:buFont typeface="Arial" panose="020B0604020202020204" pitchFamily="34" charset="0"/>
              <a:buChar char="•"/>
            </a:pPr>
            <a:r>
              <a:rPr lang="en-IN" sz="2400" dirty="0"/>
              <a:t>Resource Mismanagement</a:t>
            </a:r>
          </a:p>
          <a:p>
            <a:pPr marL="342900" indent="-342900">
              <a:buFont typeface="Arial" panose="020B0604020202020204" pitchFamily="34" charset="0"/>
              <a:buChar char="•"/>
            </a:pPr>
            <a:r>
              <a:rPr lang="en-IN" sz="2400" dirty="0"/>
              <a:t>Client dissatisfaction</a:t>
            </a:r>
          </a:p>
          <a:p>
            <a:pPr marL="342900" indent="-342900">
              <a:buFont typeface="Arial" panose="020B0604020202020204" pitchFamily="34" charset="0"/>
              <a:buChar char="•"/>
            </a:pPr>
            <a:r>
              <a:rPr lang="en-IN" sz="2400" dirty="0"/>
              <a:t>Financial loss</a:t>
            </a:r>
          </a:p>
          <a:p>
            <a:r>
              <a:rPr lang="en-IN" sz="2400" dirty="0"/>
              <a:t>Traditional estimation methods such as expert judgment, manual calculation, and fixed models (COCOMO) often fail to handle complex and dynamic project environments.</a:t>
            </a:r>
          </a:p>
        </p:txBody>
      </p:sp>
      <p:pic>
        <p:nvPicPr>
          <p:cNvPr id="8" name="Picture 7">
            <a:extLst>
              <a:ext uri="{FF2B5EF4-FFF2-40B4-BE49-F238E27FC236}">
                <a16:creationId xmlns:a16="http://schemas.microsoft.com/office/drawing/2014/main" id="{2C09A1EA-542D-09BA-953E-ACA8EFB0B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02013" y="2600713"/>
            <a:ext cx="4345858" cy="2274332"/>
          </a:xfrm>
          <a:prstGeom prst="rect">
            <a:avLst/>
          </a:prstGeom>
        </p:spPr>
      </p:pic>
    </p:spTree>
    <p:extLst>
      <p:ext uri="{BB962C8B-B14F-4D97-AF65-F5344CB8AC3E}">
        <p14:creationId xmlns:p14="http://schemas.microsoft.com/office/powerpoint/2010/main" val="53768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393438-67B8-4262-B2F1-9984AFF131E1}"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4</a:t>
            </a:fld>
            <a:endParaRPr lang="en-IN"/>
          </a:p>
        </p:txBody>
      </p:sp>
      <p:sp>
        <p:nvSpPr>
          <p:cNvPr id="6" name="Title 1"/>
          <p:cNvSpPr txBox="1">
            <a:spLocks/>
          </p:cNvSpPr>
          <p:nvPr/>
        </p:nvSpPr>
        <p:spPr>
          <a:xfrm>
            <a:off x="838200" y="365126"/>
            <a:ext cx="10515600" cy="10717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3200" b="1" dirty="0">
                <a:solidFill>
                  <a:srgbClr val="7030A0"/>
                </a:solidFill>
                <a:latin typeface="Times New Roman" panose="02020603050405020304" pitchFamily="18" charset="0"/>
                <a:cs typeface="Times New Roman" panose="02020603050405020304" pitchFamily="18" charset="0"/>
              </a:rPr>
              <a:t>EMPATHY MAPPING</a:t>
            </a:r>
            <a:endParaRPr lang="en-IN" dirty="0"/>
          </a:p>
        </p:txBody>
      </p:sp>
      <p:pic>
        <p:nvPicPr>
          <p:cNvPr id="3" name="Content Placeholder 2">
            <a:extLst>
              <a:ext uri="{FF2B5EF4-FFF2-40B4-BE49-F238E27FC236}">
                <a16:creationId xmlns:a16="http://schemas.microsoft.com/office/drawing/2014/main" id="{A5798432-D3D2-FD8F-3540-2748A7AEA1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9800" y="1436914"/>
            <a:ext cx="7667970" cy="5111980"/>
          </a:xfrm>
          <a:prstGeom prst="rect">
            <a:avLst/>
          </a:prstGeom>
        </p:spPr>
      </p:pic>
    </p:spTree>
    <p:extLst>
      <p:ext uri="{BB962C8B-B14F-4D97-AF65-F5344CB8AC3E}">
        <p14:creationId xmlns:p14="http://schemas.microsoft.com/office/powerpoint/2010/main" val="2786842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4958"/>
            <a:ext cx="10515600" cy="708932"/>
          </a:xfrm>
        </p:spPr>
        <p:txBody>
          <a:bodyPr/>
          <a:lstStyle/>
          <a:p>
            <a:pPr algn="ctr"/>
            <a:r>
              <a:rPr lang="en-US" altLang="en-US" sz="3200" b="1" dirty="0">
                <a:solidFill>
                  <a:srgbClr val="7030A0"/>
                </a:solidFill>
                <a:latin typeface="Times New Roman" panose="02020603050405020304" pitchFamily="18" charset="0"/>
                <a:cs typeface="Times New Roman" panose="02020603050405020304" pitchFamily="18" charset="0"/>
              </a:rPr>
              <a:t>CONCEPT / SCOPE OF SOLUTION</a:t>
            </a:r>
            <a:endParaRPr lang="en-IN" dirty="0"/>
          </a:p>
        </p:txBody>
      </p:sp>
      <p:sp>
        <p:nvSpPr>
          <p:cNvPr id="3" name="Content Placeholder 2"/>
          <p:cNvSpPr>
            <a:spLocks noGrp="1"/>
          </p:cNvSpPr>
          <p:nvPr>
            <p:ph idx="1"/>
          </p:nvPr>
        </p:nvSpPr>
        <p:spPr>
          <a:xfrm>
            <a:off x="838200" y="1825625"/>
            <a:ext cx="6929284" cy="4351338"/>
          </a:xfrm>
        </p:spPr>
        <p:txBody>
          <a:bodyPr>
            <a:normAutofit/>
          </a:bodyPr>
          <a:lstStyle/>
          <a:p>
            <a:r>
              <a:rPr lang="en-US" dirty="0"/>
              <a:t>To design and develop an AI-powered predictive system that:</a:t>
            </a:r>
          </a:p>
          <a:p>
            <a:r>
              <a:rPr lang="en-US" dirty="0"/>
              <a:t>Predicts project cost using regression models</a:t>
            </a:r>
          </a:p>
          <a:p>
            <a:r>
              <a:rPr lang="en-US" dirty="0"/>
              <a:t>Predicts project duration using ML algorithms</a:t>
            </a:r>
          </a:p>
          <a:p>
            <a:r>
              <a:rPr lang="en-US" dirty="0"/>
              <a:t>Identifies risk probability using classification models</a:t>
            </a:r>
          </a:p>
          <a:p>
            <a:r>
              <a:rPr lang="en-US" dirty="0"/>
              <a:t>Provides explainable AI </a:t>
            </a:r>
            <a:r>
              <a:rPr lang="en-US" dirty="0" err="1"/>
              <a:t>insightsSupports</a:t>
            </a:r>
            <a:endParaRPr lang="en-IN" dirty="0"/>
          </a:p>
        </p:txBody>
      </p:sp>
      <p:sp>
        <p:nvSpPr>
          <p:cNvPr id="4" name="Date Placeholder 3"/>
          <p:cNvSpPr>
            <a:spLocks noGrp="1"/>
          </p:cNvSpPr>
          <p:nvPr>
            <p:ph type="dt" sz="half" idx="10"/>
          </p:nvPr>
        </p:nvSpPr>
        <p:spPr/>
        <p:txBody>
          <a:bodyPr/>
          <a:lstStyle/>
          <a:p>
            <a:fld id="{FD8F6C9C-6959-48C2-987A-20803E1C5909}"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5</a:t>
            </a:fld>
            <a:endParaRPr lang="en-IN"/>
          </a:p>
        </p:txBody>
      </p:sp>
      <p:pic>
        <p:nvPicPr>
          <p:cNvPr id="7" name="Picture 6">
            <a:extLst>
              <a:ext uri="{FF2B5EF4-FFF2-40B4-BE49-F238E27FC236}">
                <a16:creationId xmlns:a16="http://schemas.microsoft.com/office/drawing/2014/main" id="{E5740958-EE8A-EC37-BE1D-0A5254DA09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49381" y="1145253"/>
            <a:ext cx="3474065" cy="5211097"/>
          </a:xfrm>
          <a:prstGeom prst="rect">
            <a:avLst/>
          </a:prstGeom>
        </p:spPr>
      </p:pic>
    </p:spTree>
    <p:extLst>
      <p:ext uri="{BB962C8B-B14F-4D97-AF65-F5344CB8AC3E}">
        <p14:creationId xmlns:p14="http://schemas.microsoft.com/office/powerpoint/2010/main" val="3981676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6646"/>
          </a:xfrm>
        </p:spPr>
        <p:txBody>
          <a:bodyPr>
            <a:normAutofit/>
          </a:bodyPr>
          <a:lstStyle/>
          <a:p>
            <a:r>
              <a:rPr lang="en-US" altLang="en-US" sz="3200" b="1" dirty="0">
                <a:solidFill>
                  <a:srgbClr val="7030A0"/>
                </a:solidFill>
                <a:latin typeface="Times New Roman" panose="02020603050405020304" pitchFamily="18" charset="0"/>
                <a:cs typeface="Times New Roman" panose="02020603050405020304" pitchFamily="18" charset="0"/>
              </a:rPr>
              <a:t>LITERATURE SURVEY /  BACKGROUND STUDY</a:t>
            </a:r>
            <a:endParaRPr lang="en-IN" sz="3200" b="1" dirty="0">
              <a:solidFill>
                <a:srgbClr val="7030A0"/>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726934675"/>
              </p:ext>
            </p:extLst>
          </p:nvPr>
        </p:nvGraphicFramePr>
        <p:xfrm>
          <a:off x="2209800" y="1774371"/>
          <a:ext cx="6096000" cy="2595565"/>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795">
                <a:tc>
                  <a:txBody>
                    <a:bodyPr/>
                    <a:lstStyle/>
                    <a:p>
                      <a:r>
                        <a:rPr lang="en-US" sz="1800" dirty="0"/>
                        <a:t>PAPER</a:t>
                      </a:r>
                    </a:p>
                  </a:txBody>
                  <a:tcPr marT="45714" marB="45714"/>
                </a:tc>
                <a:tc>
                  <a:txBody>
                    <a:bodyPr/>
                    <a:lstStyle/>
                    <a:p>
                      <a:r>
                        <a:rPr lang="en-US" sz="1800" dirty="0"/>
                        <a:t>APPROACH</a:t>
                      </a:r>
                    </a:p>
                  </a:txBody>
                  <a:tcPr marT="45714" marB="45714"/>
                </a:tc>
                <a:tc>
                  <a:txBody>
                    <a:bodyPr/>
                    <a:lstStyle/>
                    <a:p>
                      <a:r>
                        <a:rPr lang="en-US" sz="1800" dirty="0"/>
                        <a:t>REMARKS</a:t>
                      </a:r>
                    </a:p>
                  </a:txBody>
                  <a:tcPr marT="45714" marB="45714"/>
                </a:tc>
                <a:extLst>
                  <a:ext uri="{0D108BD9-81ED-4DB2-BD59-A6C34878D82A}">
                    <a16:rowId xmlns:a16="http://schemas.microsoft.com/office/drawing/2014/main" val="10000"/>
                  </a:ext>
                </a:extLst>
              </a:tr>
              <a:tr h="370795">
                <a:tc>
                  <a:txBody>
                    <a:bodyPr/>
                    <a:lstStyle/>
                    <a:p>
                      <a:r>
                        <a:rPr lang="en-US" sz="1800" dirty="0"/>
                        <a:t>1.</a:t>
                      </a:r>
                    </a:p>
                  </a:txBody>
                  <a:tcPr marT="45714" marB="45714"/>
                </a:tc>
                <a:tc>
                  <a:txBody>
                    <a:bodyPr/>
                    <a:lstStyle/>
                    <a:p>
                      <a:endParaRPr lang="en-US" sz="1800" dirty="0"/>
                    </a:p>
                  </a:txBody>
                  <a:tcPr marT="45714" marB="45714"/>
                </a:tc>
                <a:tc>
                  <a:txBody>
                    <a:bodyPr/>
                    <a:lstStyle/>
                    <a:p>
                      <a:endParaRPr lang="en-US" sz="1800" dirty="0"/>
                    </a:p>
                  </a:txBody>
                  <a:tcPr marT="45714" marB="45714"/>
                </a:tc>
                <a:extLst>
                  <a:ext uri="{0D108BD9-81ED-4DB2-BD59-A6C34878D82A}">
                    <a16:rowId xmlns:a16="http://schemas.microsoft.com/office/drawing/2014/main" val="10001"/>
                  </a:ext>
                </a:extLst>
              </a:tr>
              <a:tr h="370795">
                <a:tc>
                  <a:txBody>
                    <a:bodyPr/>
                    <a:lstStyle/>
                    <a:p>
                      <a:r>
                        <a:rPr lang="en-US" sz="1800" dirty="0"/>
                        <a:t>2.</a:t>
                      </a:r>
                    </a:p>
                  </a:txBody>
                  <a:tcPr marT="45714" marB="45714"/>
                </a:tc>
                <a:tc>
                  <a:txBody>
                    <a:bodyPr/>
                    <a:lstStyle/>
                    <a:p>
                      <a:endParaRPr lang="en-US" sz="1800" dirty="0"/>
                    </a:p>
                  </a:txBody>
                  <a:tcPr marT="45714" marB="45714"/>
                </a:tc>
                <a:tc>
                  <a:txBody>
                    <a:bodyPr/>
                    <a:lstStyle/>
                    <a:p>
                      <a:endParaRPr lang="en-US" sz="1800" dirty="0"/>
                    </a:p>
                  </a:txBody>
                  <a:tcPr marT="45714" marB="45714"/>
                </a:tc>
                <a:extLst>
                  <a:ext uri="{0D108BD9-81ED-4DB2-BD59-A6C34878D82A}">
                    <a16:rowId xmlns:a16="http://schemas.microsoft.com/office/drawing/2014/main" val="10002"/>
                  </a:ext>
                </a:extLst>
              </a:tr>
              <a:tr h="370795">
                <a:tc>
                  <a:txBody>
                    <a:bodyPr/>
                    <a:lstStyle/>
                    <a:p>
                      <a:r>
                        <a:rPr lang="en-US" sz="1800" dirty="0"/>
                        <a:t>3.</a:t>
                      </a:r>
                    </a:p>
                  </a:txBody>
                  <a:tcPr marT="45714" marB="45714"/>
                </a:tc>
                <a:tc>
                  <a:txBody>
                    <a:bodyPr/>
                    <a:lstStyle/>
                    <a:p>
                      <a:endParaRPr lang="en-US" sz="1800" dirty="0"/>
                    </a:p>
                  </a:txBody>
                  <a:tcPr marT="45714" marB="45714"/>
                </a:tc>
                <a:tc>
                  <a:txBody>
                    <a:bodyPr/>
                    <a:lstStyle/>
                    <a:p>
                      <a:endParaRPr lang="en-US" sz="1800" dirty="0"/>
                    </a:p>
                  </a:txBody>
                  <a:tcPr marT="45714" marB="45714"/>
                </a:tc>
                <a:extLst>
                  <a:ext uri="{0D108BD9-81ED-4DB2-BD59-A6C34878D82A}">
                    <a16:rowId xmlns:a16="http://schemas.microsoft.com/office/drawing/2014/main" val="10003"/>
                  </a:ext>
                </a:extLst>
              </a:tr>
              <a:tr h="370795">
                <a:tc>
                  <a:txBody>
                    <a:bodyPr/>
                    <a:lstStyle/>
                    <a:p>
                      <a:endParaRPr lang="en-US" sz="1800" dirty="0"/>
                    </a:p>
                  </a:txBody>
                  <a:tcPr marT="45714" marB="45714"/>
                </a:tc>
                <a:tc>
                  <a:txBody>
                    <a:bodyPr/>
                    <a:lstStyle/>
                    <a:p>
                      <a:endParaRPr lang="en-US" sz="1800" dirty="0"/>
                    </a:p>
                  </a:txBody>
                  <a:tcPr marT="45714" marB="45714"/>
                </a:tc>
                <a:tc>
                  <a:txBody>
                    <a:bodyPr/>
                    <a:lstStyle/>
                    <a:p>
                      <a:endParaRPr lang="en-US" sz="1800" dirty="0"/>
                    </a:p>
                  </a:txBody>
                  <a:tcPr marT="45714" marB="45714"/>
                </a:tc>
                <a:extLst>
                  <a:ext uri="{0D108BD9-81ED-4DB2-BD59-A6C34878D82A}">
                    <a16:rowId xmlns:a16="http://schemas.microsoft.com/office/drawing/2014/main" val="10004"/>
                  </a:ext>
                </a:extLst>
              </a:tr>
              <a:tr h="370795">
                <a:tc>
                  <a:txBody>
                    <a:bodyPr/>
                    <a:lstStyle/>
                    <a:p>
                      <a:r>
                        <a:rPr lang="en-US" sz="1800" dirty="0"/>
                        <a:t>5.</a:t>
                      </a:r>
                    </a:p>
                  </a:txBody>
                  <a:tcPr marT="45714" marB="45714"/>
                </a:tc>
                <a:tc>
                  <a:txBody>
                    <a:bodyPr/>
                    <a:lstStyle/>
                    <a:p>
                      <a:endParaRPr lang="en-US" sz="1800" dirty="0"/>
                    </a:p>
                  </a:txBody>
                  <a:tcPr marT="45714" marB="45714"/>
                </a:tc>
                <a:tc>
                  <a:txBody>
                    <a:bodyPr/>
                    <a:lstStyle/>
                    <a:p>
                      <a:endParaRPr lang="en-US" sz="1800" dirty="0"/>
                    </a:p>
                  </a:txBody>
                  <a:tcPr marT="45714" marB="45714"/>
                </a:tc>
                <a:extLst>
                  <a:ext uri="{0D108BD9-81ED-4DB2-BD59-A6C34878D82A}">
                    <a16:rowId xmlns:a16="http://schemas.microsoft.com/office/drawing/2014/main" val="10005"/>
                  </a:ext>
                </a:extLst>
              </a:tr>
              <a:tr h="370795">
                <a:tc>
                  <a:txBody>
                    <a:bodyPr/>
                    <a:lstStyle/>
                    <a:p>
                      <a:r>
                        <a:rPr lang="en-US" sz="1800" dirty="0"/>
                        <a:t>6.</a:t>
                      </a:r>
                    </a:p>
                  </a:txBody>
                  <a:tcPr marT="45714" marB="45714"/>
                </a:tc>
                <a:tc>
                  <a:txBody>
                    <a:bodyPr/>
                    <a:lstStyle/>
                    <a:p>
                      <a:endParaRPr lang="en-US" sz="1800" dirty="0"/>
                    </a:p>
                  </a:txBody>
                  <a:tcPr marT="45714" marB="45714"/>
                </a:tc>
                <a:tc>
                  <a:txBody>
                    <a:bodyPr/>
                    <a:lstStyle/>
                    <a:p>
                      <a:endParaRPr lang="en-US" sz="1800" dirty="0"/>
                    </a:p>
                  </a:txBody>
                  <a:tcPr marT="45714" marB="45714"/>
                </a:tc>
                <a:extLst>
                  <a:ext uri="{0D108BD9-81ED-4DB2-BD59-A6C34878D82A}">
                    <a16:rowId xmlns:a16="http://schemas.microsoft.com/office/drawing/2014/main" val="10006"/>
                  </a:ext>
                </a:extLst>
              </a:tr>
            </a:tbl>
          </a:graphicData>
        </a:graphic>
      </p:graphicFrame>
      <p:sp>
        <p:nvSpPr>
          <p:cNvPr id="5" name="Date Placeholder 4"/>
          <p:cNvSpPr>
            <a:spLocks noGrp="1"/>
          </p:cNvSpPr>
          <p:nvPr>
            <p:ph type="dt" sz="half" idx="10"/>
          </p:nvPr>
        </p:nvSpPr>
        <p:spPr/>
        <p:txBody>
          <a:bodyPr/>
          <a:lstStyle/>
          <a:p>
            <a:fld id="{46A8E122-72ED-4C03-95A5-F856646B0977}" type="datetime1">
              <a:rPr lang="en-IN" smtClean="0"/>
              <a:t>06-03-2026</a:t>
            </a:fld>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6</a:t>
            </a:fld>
            <a:endParaRPr lang="en-IN"/>
          </a:p>
        </p:txBody>
      </p:sp>
      <p:sp>
        <p:nvSpPr>
          <p:cNvPr id="3" name="TextBox 2"/>
          <p:cNvSpPr txBox="1"/>
          <p:nvPr/>
        </p:nvSpPr>
        <p:spPr>
          <a:xfrm>
            <a:off x="3802743" y="5413829"/>
            <a:ext cx="2011320" cy="369332"/>
          </a:xfrm>
          <a:prstGeom prst="rect">
            <a:avLst/>
          </a:prstGeom>
          <a:noFill/>
        </p:spPr>
        <p:txBody>
          <a:bodyPr wrap="none" rtlCol="0">
            <a:spAutoFit/>
          </a:bodyPr>
          <a:lstStyle/>
          <a:p>
            <a:r>
              <a:rPr lang="en-IN" dirty="0"/>
              <a:t>Minimum 6 papers </a:t>
            </a:r>
          </a:p>
        </p:txBody>
      </p:sp>
      <p:pic>
        <p:nvPicPr>
          <p:cNvPr id="8" name="Picture 7">
            <a:extLst>
              <a:ext uri="{FF2B5EF4-FFF2-40B4-BE49-F238E27FC236}">
                <a16:creationId xmlns:a16="http://schemas.microsoft.com/office/drawing/2014/main" id="{302CCAFE-DF7B-21D5-4F8E-D183609914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7" y="1395030"/>
            <a:ext cx="11208774" cy="4563318"/>
          </a:xfrm>
          <a:prstGeom prst="rect">
            <a:avLst/>
          </a:prstGeom>
        </p:spPr>
      </p:pic>
    </p:spTree>
    <p:extLst>
      <p:ext uri="{BB962C8B-B14F-4D97-AF65-F5344CB8AC3E}">
        <p14:creationId xmlns:p14="http://schemas.microsoft.com/office/powerpoint/2010/main" val="842943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029" y="379639"/>
            <a:ext cx="10515600" cy="1325563"/>
          </a:xfrm>
        </p:spPr>
        <p:txBody>
          <a:bodyPr>
            <a:normAutofit/>
          </a:bodyPr>
          <a:lstStyle/>
          <a:p>
            <a:pPr algn="ctr"/>
            <a:r>
              <a:rPr lang="en-US" altLang="en-US" sz="3200" b="1" dirty="0">
                <a:solidFill>
                  <a:srgbClr val="7030A0"/>
                </a:solidFill>
                <a:latin typeface="Times New Roman" panose="02020603050405020304" pitchFamily="18" charset="0"/>
                <a:cs typeface="Times New Roman" panose="02020603050405020304" pitchFamily="18" charset="0"/>
              </a:rPr>
              <a:t>EXISTING  METHOD</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5413" y="1855107"/>
            <a:ext cx="7597877" cy="4351338"/>
          </a:xfrm>
        </p:spPr>
        <p:txBody>
          <a:bodyPr>
            <a:normAutofit/>
          </a:bodyPr>
          <a:lstStyle/>
          <a:p>
            <a:r>
              <a:rPr lang="en-US" dirty="0" smtClean="0"/>
              <a:t>Expert </a:t>
            </a:r>
            <a:r>
              <a:rPr lang="en-US" dirty="0"/>
              <a:t>Judgment-Based Estimation</a:t>
            </a:r>
          </a:p>
          <a:p>
            <a:endParaRPr lang="en-US" dirty="0"/>
          </a:p>
          <a:p>
            <a:r>
              <a:rPr lang="en-US" dirty="0" smtClean="0"/>
              <a:t>Traditional </a:t>
            </a:r>
            <a:r>
              <a:rPr lang="en-US" dirty="0"/>
              <a:t>Algorithmic Models (COCOMO)</a:t>
            </a:r>
          </a:p>
          <a:p>
            <a:pPr marL="0" indent="0">
              <a:buNone/>
            </a:pPr>
            <a:endParaRPr lang="en-US" dirty="0"/>
          </a:p>
          <a:p>
            <a:r>
              <a:rPr lang="en-US" dirty="0" smtClean="0"/>
              <a:t> </a:t>
            </a:r>
            <a:r>
              <a:rPr lang="en-US" dirty="0"/>
              <a:t>Agile Estimation Techniques</a:t>
            </a:r>
          </a:p>
          <a:p>
            <a:pPr marL="0" indent="0">
              <a:buNone/>
            </a:pPr>
            <a:endParaRPr lang="en-US" dirty="0"/>
          </a:p>
          <a:p>
            <a:r>
              <a:rPr lang="en-US" dirty="0" smtClean="0"/>
              <a:t>Manual </a:t>
            </a:r>
            <a:r>
              <a:rPr lang="en-US" dirty="0"/>
              <a:t>Scheduling Tools</a:t>
            </a:r>
            <a:endParaRPr lang="en-IN" dirty="0"/>
          </a:p>
        </p:txBody>
      </p:sp>
      <p:sp>
        <p:nvSpPr>
          <p:cNvPr id="4" name="Date Placeholder 3"/>
          <p:cNvSpPr>
            <a:spLocks noGrp="1"/>
          </p:cNvSpPr>
          <p:nvPr>
            <p:ph type="dt" sz="half" idx="10"/>
          </p:nvPr>
        </p:nvSpPr>
        <p:spPr/>
        <p:txBody>
          <a:bodyPr/>
          <a:lstStyle/>
          <a:p>
            <a:fld id="{B792CDB6-4206-4A80-A090-94635E3F11CC}"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7</a:t>
            </a:fld>
            <a:endParaRPr lang="en-IN"/>
          </a:p>
        </p:txBody>
      </p:sp>
      <p:pic>
        <p:nvPicPr>
          <p:cNvPr id="7" name="Picture 6">
            <a:extLst>
              <a:ext uri="{FF2B5EF4-FFF2-40B4-BE49-F238E27FC236}">
                <a16:creationId xmlns:a16="http://schemas.microsoft.com/office/drawing/2014/main" id="{BF860FB8-D225-A7DA-90EC-67418B799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6246" y="1855107"/>
            <a:ext cx="4052544" cy="3999982"/>
          </a:xfrm>
          <a:prstGeom prst="rect">
            <a:avLst/>
          </a:prstGeom>
        </p:spPr>
      </p:pic>
    </p:spTree>
    <p:extLst>
      <p:ext uri="{BB962C8B-B14F-4D97-AF65-F5344CB8AC3E}">
        <p14:creationId xmlns:p14="http://schemas.microsoft.com/office/powerpoint/2010/main" val="196839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5046"/>
          </a:xfrm>
        </p:spPr>
        <p:txBody>
          <a:bodyPr>
            <a:normAutofit/>
          </a:bodyPr>
          <a:lstStyle/>
          <a:p>
            <a:pPr algn="ctr"/>
            <a:r>
              <a:rPr lang="en-US" altLang="en-US" sz="3200" b="1" dirty="0">
                <a:solidFill>
                  <a:srgbClr val="7030A0"/>
                </a:solidFill>
                <a:latin typeface="Times New Roman" panose="02020603050405020304" pitchFamily="18" charset="0"/>
                <a:cs typeface="Times New Roman" panose="02020603050405020304" pitchFamily="18" charset="0"/>
              </a:rPr>
              <a:t>PROPOSED / INNOVATIVE METHOD</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7C78B18-D97F-4AE8-AF7B-306900D7C61E}"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8</a:t>
            </a:fld>
            <a:endParaRPr lang="en-IN"/>
          </a:p>
        </p:txBody>
      </p:sp>
      <p:sp>
        <p:nvSpPr>
          <p:cNvPr id="3" name="Rectangle 1">
            <a:extLst>
              <a:ext uri="{FF2B5EF4-FFF2-40B4-BE49-F238E27FC236}">
                <a16:creationId xmlns:a16="http://schemas.microsoft.com/office/drawing/2014/main" id="{B2F79678-47B2-D946-C0AF-CA09DBF94E3A}"/>
              </a:ext>
            </a:extLst>
          </p:cNvPr>
          <p:cNvSpPr>
            <a:spLocks noGrp="1" noChangeArrowheads="1"/>
          </p:cNvSpPr>
          <p:nvPr>
            <p:ph idx="1"/>
          </p:nvPr>
        </p:nvSpPr>
        <p:spPr bwMode="auto">
          <a:xfrm>
            <a:off x="838200" y="1407586"/>
            <a:ext cx="7072449"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AI prediction of </a:t>
            </a:r>
            <a:r>
              <a:rPr kumimoji="0" lang="en-US" altLang="en-US" sz="2400" b="1" i="0" u="none" strike="noStrike" cap="none" normalizeH="0" baseline="0" dirty="0">
                <a:ln>
                  <a:noFill/>
                </a:ln>
                <a:solidFill>
                  <a:schemeClr val="tx1"/>
                </a:solidFill>
                <a:effectLst/>
                <a:latin typeface="Arial" panose="020B0604020202020204" pitchFamily="34" charset="0"/>
              </a:rPr>
              <a:t>project cost and timeline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Risk detection</a:t>
            </a:r>
            <a:r>
              <a:rPr kumimoji="0" lang="en-US" altLang="en-US" sz="2400" b="0" i="0" u="none" strike="noStrike" cap="none" normalizeH="0" baseline="0" dirty="0">
                <a:ln>
                  <a:noFill/>
                </a:ln>
                <a:solidFill>
                  <a:schemeClr val="tx1"/>
                </a:solidFill>
                <a:effectLst/>
                <a:latin typeface="Arial" panose="020B0604020202020204" pitchFamily="34" charset="0"/>
              </a:rPr>
              <a:t> using machine learning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Automatic schedule updates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Past project comparison</a:t>
            </a:r>
            <a:r>
              <a:rPr kumimoji="0" lang="en-US" altLang="en-US" sz="2400" b="0" i="0" u="none" strike="noStrike" cap="none" normalizeH="0" baseline="0" dirty="0">
                <a:ln>
                  <a:noFill/>
                </a:ln>
                <a:solidFill>
                  <a:schemeClr val="tx1"/>
                </a:solidFill>
                <a:effectLst/>
                <a:latin typeface="Arial" panose="020B0604020202020204" pitchFamily="34" charset="0"/>
              </a:rPr>
              <a:t> for better prediction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Dashboard</a:t>
            </a:r>
            <a:r>
              <a:rPr kumimoji="0" lang="en-US" altLang="en-US" sz="2400" b="0" i="0" u="none" strike="noStrike" cap="none" normalizeH="0" baseline="0" dirty="0">
                <a:ln>
                  <a:noFill/>
                </a:ln>
                <a:solidFill>
                  <a:schemeClr val="tx1"/>
                </a:solidFill>
                <a:effectLst/>
                <a:latin typeface="Arial" panose="020B0604020202020204" pitchFamily="34" charset="0"/>
              </a:rPr>
              <a:t> for cost and time visualization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Role-based access</a:t>
            </a:r>
            <a:r>
              <a:rPr kumimoji="0" lang="en-US" altLang="en-US" sz="2400" b="0" i="0" u="none" strike="noStrike" cap="none" normalizeH="0" baseline="0" dirty="0">
                <a:ln>
                  <a:noFill/>
                </a:ln>
                <a:solidFill>
                  <a:schemeClr val="tx1"/>
                </a:solidFill>
                <a:effectLst/>
                <a:latin typeface="Arial" panose="020B0604020202020204" pitchFamily="34" charset="0"/>
              </a:rPr>
              <a:t> (Manager, Developer, Client)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Explainable AI</a:t>
            </a:r>
            <a:r>
              <a:rPr kumimoji="0" lang="en-US" altLang="en-US" sz="2400" b="0" i="0" u="none" strike="noStrike" cap="none" normalizeH="0" baseline="0" dirty="0">
                <a:ln>
                  <a:noFill/>
                </a:ln>
                <a:solidFill>
                  <a:schemeClr val="tx1"/>
                </a:solidFill>
                <a:effectLst/>
                <a:latin typeface="Arial" panose="020B0604020202020204" pitchFamily="34" charset="0"/>
              </a:rPr>
              <a:t> for prediction reasons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Automatic report generation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AutoShape 3">
            <a:extLst>
              <a:ext uri="{FF2B5EF4-FFF2-40B4-BE49-F238E27FC236}">
                <a16:creationId xmlns:a16="http://schemas.microsoft.com/office/drawing/2014/main" id="{175C628E-58AC-DF44-B9B4-C5853BFCC4F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7">
            <a:extLst>
              <a:ext uri="{FF2B5EF4-FFF2-40B4-BE49-F238E27FC236}">
                <a16:creationId xmlns:a16="http://schemas.microsoft.com/office/drawing/2014/main" id="{384E4AC3-3B77-F914-523F-030D5B6A65E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9">
            <a:extLst>
              <a:ext uri="{FF2B5EF4-FFF2-40B4-BE49-F238E27FC236}">
                <a16:creationId xmlns:a16="http://schemas.microsoft.com/office/drawing/2014/main" id="{8EF6A9DA-684E-1DBE-FC85-84FC0D600A02}"/>
              </a:ext>
            </a:extLst>
          </p:cNvPr>
          <p:cNvSpPr>
            <a:spLocks noChangeAspect="1" noChangeArrowheads="1"/>
          </p:cNvSpPr>
          <p:nvPr/>
        </p:nvSpPr>
        <p:spPr bwMode="auto">
          <a:xfrm>
            <a:off x="5584723" y="398452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11">
            <a:extLst>
              <a:ext uri="{FF2B5EF4-FFF2-40B4-BE49-F238E27FC236}">
                <a16:creationId xmlns:a16="http://schemas.microsoft.com/office/drawing/2014/main" id="{FA0AB9CC-12D9-D5D5-5290-100399BFED84}"/>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E849C936-20A2-6D17-7FA0-A62ACC9AA8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3049" y="2413903"/>
            <a:ext cx="3097930" cy="1725394"/>
          </a:xfrm>
          <a:prstGeom prst="rect">
            <a:avLst/>
          </a:prstGeom>
        </p:spPr>
      </p:pic>
    </p:spTree>
    <p:extLst>
      <p:ext uri="{BB962C8B-B14F-4D97-AF65-F5344CB8AC3E}">
        <p14:creationId xmlns:p14="http://schemas.microsoft.com/office/powerpoint/2010/main" val="2231136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4000" b="1" dirty="0">
                <a:solidFill>
                  <a:srgbClr val="7030A0"/>
                </a:solidFill>
                <a:latin typeface="Times New Roman" panose="02020603050405020304" pitchFamily="18" charset="0"/>
                <a:cs typeface="Times New Roman" panose="02020603050405020304" pitchFamily="18" charset="0"/>
              </a:rPr>
              <a:t>BLOCK / SCHEMATIC DIAGRAM</a:t>
            </a:r>
            <a:endParaRPr lang="en-IN" sz="4000"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2496" y="1825625"/>
            <a:ext cx="6527007" cy="4351338"/>
          </a:xfrm>
        </p:spPr>
      </p:pic>
      <p:sp>
        <p:nvSpPr>
          <p:cNvPr id="4" name="Date Placeholder 3"/>
          <p:cNvSpPr>
            <a:spLocks noGrp="1"/>
          </p:cNvSpPr>
          <p:nvPr>
            <p:ph type="dt" sz="half" idx="10"/>
          </p:nvPr>
        </p:nvSpPr>
        <p:spPr/>
        <p:txBody>
          <a:bodyPr/>
          <a:lstStyle/>
          <a:p>
            <a:fld id="{8E393438-67B8-4262-B2F1-9984AFF131E1}"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9</a:t>
            </a:fld>
            <a:endParaRPr lang="en-IN"/>
          </a:p>
        </p:txBody>
      </p:sp>
    </p:spTree>
    <p:extLst>
      <p:ext uri="{BB962C8B-B14F-4D97-AF65-F5344CB8AC3E}">
        <p14:creationId xmlns:p14="http://schemas.microsoft.com/office/powerpoint/2010/main" val="216452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4000" b="1" dirty="0">
                <a:solidFill>
                  <a:srgbClr val="7030A0"/>
                </a:solidFill>
                <a:latin typeface="Times New Roman" panose="02020603050405020304" pitchFamily="18" charset="0"/>
                <a:cs typeface="Times New Roman" panose="02020603050405020304" pitchFamily="18" charset="0"/>
              </a:rPr>
              <a:t>USE CASE DIAGRAM</a:t>
            </a:r>
            <a:endParaRPr lang="en-IN" sz="4000"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2496" y="1825625"/>
            <a:ext cx="6527007" cy="4351338"/>
          </a:xfrm>
        </p:spPr>
      </p:pic>
      <p:sp>
        <p:nvSpPr>
          <p:cNvPr id="4" name="Date Placeholder 3"/>
          <p:cNvSpPr>
            <a:spLocks noGrp="1"/>
          </p:cNvSpPr>
          <p:nvPr>
            <p:ph type="dt" sz="half" idx="10"/>
          </p:nvPr>
        </p:nvSpPr>
        <p:spPr/>
        <p:txBody>
          <a:bodyPr/>
          <a:lstStyle/>
          <a:p>
            <a:fld id="{8E393438-67B8-4262-B2F1-9984AFF131E1}"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10</a:t>
            </a:fld>
            <a:endParaRPr lang="en-IN"/>
          </a:p>
        </p:txBody>
      </p:sp>
    </p:spTree>
    <p:extLst>
      <p:ext uri="{BB962C8B-B14F-4D97-AF65-F5344CB8AC3E}">
        <p14:creationId xmlns:p14="http://schemas.microsoft.com/office/powerpoint/2010/main" val="662971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62"/>
            <a:ext cx="10515600" cy="1031815"/>
          </a:xfrm>
        </p:spPr>
        <p:txBody>
          <a:bodyPr>
            <a:normAutofit/>
          </a:bodyPr>
          <a:lstStyle/>
          <a:p>
            <a:pPr algn="ctr"/>
            <a:r>
              <a:rPr lang="en-IN" altLang="en-US" sz="3200" b="1" dirty="0">
                <a:solidFill>
                  <a:srgbClr val="7030A0"/>
                </a:solidFill>
                <a:latin typeface="Times New Roman" panose="02020603050405020304" pitchFamily="18" charset="0"/>
                <a:cs typeface="Times New Roman" panose="02020603050405020304" pitchFamily="18" charset="0"/>
              </a:rPr>
              <a:t>TECHNOLOGY USED</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5096EF4-7C68-4B06-98F6-075B163E3C22}"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11</a:t>
            </a:fld>
            <a:endParaRPr lang="en-IN"/>
          </a:p>
        </p:txBody>
      </p:sp>
      <p:sp>
        <p:nvSpPr>
          <p:cNvPr id="6" name="TextBox 5">
            <a:extLst>
              <a:ext uri="{FF2B5EF4-FFF2-40B4-BE49-F238E27FC236}">
                <a16:creationId xmlns:a16="http://schemas.microsoft.com/office/drawing/2014/main" id="{78080BD5-4D71-7827-4F75-7D42908D66F1}"/>
              </a:ext>
            </a:extLst>
          </p:cNvPr>
          <p:cNvSpPr txBox="1"/>
          <p:nvPr/>
        </p:nvSpPr>
        <p:spPr>
          <a:xfrm>
            <a:off x="776654" y="906601"/>
            <a:ext cx="10515600" cy="5355312"/>
          </a:xfrm>
          <a:prstGeom prst="rect">
            <a:avLst/>
          </a:prstGeom>
          <a:noFill/>
        </p:spPr>
        <p:txBody>
          <a:bodyPr wrap="square">
            <a:spAutoFit/>
          </a:bodyPr>
          <a:lstStyle/>
          <a:p>
            <a:r>
              <a:rPr lang="en-IN" b="1" dirty="0" smtClean="0"/>
              <a:t>Backend </a:t>
            </a:r>
            <a:r>
              <a:rPr lang="en-IN" b="1" dirty="0"/>
              <a:t>Development</a:t>
            </a:r>
          </a:p>
          <a:p>
            <a:pPr marL="342900" indent="-342900">
              <a:buFont typeface="Wingdings" panose="05000000000000000000" pitchFamily="2" charset="2"/>
              <a:buChar char="Ø"/>
            </a:pPr>
            <a:r>
              <a:rPr lang="en-IN" dirty="0" smtClean="0"/>
              <a:t>Python  </a:t>
            </a:r>
            <a:r>
              <a:rPr lang="en-IN" dirty="0"/>
              <a:t>Flask / </a:t>
            </a:r>
            <a:r>
              <a:rPr lang="en-IN" dirty="0" err="1"/>
              <a:t>FastAPI</a:t>
            </a:r>
            <a:r>
              <a:rPr lang="en-IN" dirty="0"/>
              <a:t>  RESTful APIs</a:t>
            </a:r>
          </a:p>
          <a:p>
            <a:pPr marL="342900" indent="-342900">
              <a:buFont typeface="Arial" panose="020B0604020202020204" pitchFamily="34" charset="0"/>
              <a:buChar char="•"/>
            </a:pPr>
            <a:endParaRPr lang="en-IN" dirty="0"/>
          </a:p>
          <a:p>
            <a:r>
              <a:rPr lang="en-IN" b="1" dirty="0" smtClean="0"/>
              <a:t>Frontend Development</a:t>
            </a:r>
          </a:p>
          <a:p>
            <a:pPr marL="800100" lvl="1" indent="-342900">
              <a:buFont typeface="Wingdings" panose="05000000000000000000" pitchFamily="2" charset="2"/>
              <a:buChar char="Ø"/>
            </a:pPr>
            <a:r>
              <a:rPr lang="en-IN" dirty="0"/>
              <a:t>	</a:t>
            </a:r>
            <a:r>
              <a:rPr lang="en-IN" dirty="0" smtClean="0"/>
              <a:t>React.js</a:t>
            </a:r>
          </a:p>
          <a:p>
            <a:pPr marL="800100" lvl="1" indent="-342900">
              <a:buFont typeface="Wingdings" panose="05000000000000000000" pitchFamily="2" charset="2"/>
              <a:buChar char="Ø"/>
            </a:pPr>
            <a:r>
              <a:rPr lang="en-IN" dirty="0"/>
              <a:t>	</a:t>
            </a:r>
            <a:r>
              <a:rPr lang="en-IN" dirty="0" smtClean="0"/>
              <a:t> HTML</a:t>
            </a:r>
          </a:p>
          <a:p>
            <a:pPr marL="800100" lvl="1" indent="-342900">
              <a:buFont typeface="Wingdings" panose="05000000000000000000" pitchFamily="2" charset="2"/>
              <a:buChar char="Ø"/>
            </a:pPr>
            <a:r>
              <a:rPr lang="en-IN" dirty="0"/>
              <a:t>	</a:t>
            </a:r>
            <a:r>
              <a:rPr lang="en-IN" dirty="0" smtClean="0"/>
              <a:t> </a:t>
            </a:r>
            <a:r>
              <a:rPr lang="en-IN" dirty="0" smtClean="0"/>
              <a:t>CSS</a:t>
            </a:r>
          </a:p>
          <a:p>
            <a:pPr marL="800100" lvl="1" indent="-342900">
              <a:buFont typeface="Wingdings" panose="05000000000000000000" pitchFamily="2" charset="2"/>
              <a:buChar char="Ø"/>
            </a:pPr>
            <a:r>
              <a:rPr lang="en-IN" dirty="0"/>
              <a:t>	</a:t>
            </a:r>
            <a:r>
              <a:rPr lang="en-IN" dirty="0" smtClean="0"/>
              <a:t>JavaScript</a:t>
            </a:r>
            <a:endParaRPr lang="en-IN" dirty="0"/>
          </a:p>
          <a:p>
            <a:endParaRPr lang="en-IN" dirty="0"/>
          </a:p>
          <a:p>
            <a:r>
              <a:rPr lang="en-IN" b="1" dirty="0" smtClean="0"/>
              <a:t>Database </a:t>
            </a:r>
            <a:r>
              <a:rPr lang="en-IN" b="1" dirty="0"/>
              <a:t>&amp; Authentication </a:t>
            </a:r>
            <a:endParaRPr lang="en-IN" b="1" dirty="0" smtClean="0"/>
          </a:p>
          <a:p>
            <a:r>
              <a:rPr lang="en-IN" dirty="0" smtClean="0"/>
              <a:t>  	Firebase </a:t>
            </a:r>
            <a:r>
              <a:rPr lang="en-IN" dirty="0" err="1" smtClean="0"/>
              <a:t>Firestore</a:t>
            </a:r>
            <a:r>
              <a:rPr lang="en-IN" dirty="0" smtClean="0"/>
              <a:t> (Cloud NoSQL Database </a:t>
            </a:r>
          </a:p>
          <a:p>
            <a:endParaRPr lang="en-IN" dirty="0" smtClean="0"/>
          </a:p>
          <a:p>
            <a:r>
              <a:rPr lang="en-IN" b="1" dirty="0" smtClean="0"/>
              <a:t>Data Visualization</a:t>
            </a:r>
            <a:r>
              <a:rPr lang="en-IN" dirty="0" smtClean="0"/>
              <a:t/>
            </a:r>
            <a:br>
              <a:rPr lang="en-IN" dirty="0" smtClean="0"/>
            </a:br>
            <a:r>
              <a:rPr lang="en-IN" dirty="0" smtClean="0"/>
              <a:t> 	Chart.js </a:t>
            </a:r>
            <a:r>
              <a:rPr lang="en-IN" dirty="0"/>
              <a:t>Matplotlib (Model </a:t>
            </a:r>
            <a:r>
              <a:rPr lang="en-IN" dirty="0"/>
              <a:t>Evaluation) &amp; Artificial Intelligence &amp; Machine Learning</a:t>
            </a:r>
          </a:p>
          <a:p>
            <a:r>
              <a:rPr lang="en-IN" dirty="0" smtClean="0"/>
              <a:t>Linear </a:t>
            </a:r>
            <a:r>
              <a:rPr lang="en-IN" dirty="0"/>
              <a:t>Regression  Random Forest  </a:t>
            </a:r>
            <a:r>
              <a:rPr lang="en-IN" dirty="0" err="1"/>
              <a:t>XGBoost</a:t>
            </a:r>
            <a:endParaRPr lang="en-IN" dirty="0"/>
          </a:p>
          <a:p>
            <a:endParaRPr lang="en-IN" dirty="0" smtClean="0"/>
          </a:p>
          <a:p>
            <a:r>
              <a:rPr lang="en-US" dirty="0" smtClean="0"/>
              <a:t>🌐 </a:t>
            </a:r>
            <a:r>
              <a:rPr lang="en-IN" b="1" dirty="0" smtClean="0"/>
              <a:t>Cloud &amp; Deployment</a:t>
            </a:r>
            <a:r>
              <a:rPr lang="en-IN" dirty="0" smtClean="0"/>
              <a:t/>
            </a:r>
            <a:br>
              <a:rPr lang="en-IN" dirty="0" smtClean="0"/>
            </a:br>
            <a:r>
              <a:rPr lang="en-IN" dirty="0" smtClean="0"/>
              <a:t>Firebase Hosting </a:t>
            </a:r>
            <a:br>
              <a:rPr lang="en-IN" dirty="0" smtClean="0"/>
            </a:br>
            <a:r>
              <a:rPr lang="en-IN" dirty="0" smtClean="0"/>
              <a:t>Amazon Web Services (Optional for ML Deployment)</a:t>
            </a:r>
            <a:endParaRPr lang="en-IN" dirty="0"/>
          </a:p>
        </p:txBody>
      </p:sp>
    </p:spTree>
    <p:extLst>
      <p:ext uri="{BB962C8B-B14F-4D97-AF65-F5344CB8AC3E}">
        <p14:creationId xmlns:p14="http://schemas.microsoft.com/office/powerpoint/2010/main" val="1715851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7030A0"/>
                </a:solidFill>
                <a:latin typeface="Times New Roman" panose="02020603050405020304" pitchFamily="18" charset="0"/>
                <a:cs typeface="Times New Roman" panose="02020603050405020304" pitchFamily="18" charset="0"/>
              </a:rPr>
              <a:t>Action Plan</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72132452-F83E-49B6-B428-D49A38CB73B8}" type="datetime1">
              <a:rPr lang="en-IN" smtClean="0"/>
              <a:t>06-03-2026</a:t>
            </a:fld>
            <a:endParaRPr lang="en-IN"/>
          </a:p>
        </p:txBody>
      </p:sp>
      <p:sp>
        <p:nvSpPr>
          <p:cNvPr id="6" name="Slide Number Placeholder 5"/>
          <p:cNvSpPr>
            <a:spLocks noGrp="1"/>
          </p:cNvSpPr>
          <p:nvPr>
            <p:ph type="sldNum" sz="quarter" idx="12"/>
          </p:nvPr>
        </p:nvSpPr>
        <p:spPr/>
        <p:txBody>
          <a:bodyPr/>
          <a:lstStyle/>
          <a:p>
            <a:fld id="{FF913B45-0786-488C-9F83-DB626DC1C02A}" type="slidenum">
              <a:rPr lang="en-IN" smtClean="0"/>
              <a:t>12</a:t>
            </a:fld>
            <a:endParaRPr lang="en-IN"/>
          </a:p>
        </p:txBody>
      </p:sp>
      <p:graphicFrame>
        <p:nvGraphicFramePr>
          <p:cNvPr id="7" name="Table 6"/>
          <p:cNvGraphicFramePr>
            <a:graphicFrameLocks noGrp="1"/>
          </p:cNvGraphicFramePr>
          <p:nvPr>
            <p:extLst>
              <p:ext uri="{D42A27DB-BD31-4B8C-83A1-F6EECF244321}">
                <p14:modId xmlns:p14="http://schemas.microsoft.com/office/powerpoint/2010/main" val="3434734008"/>
              </p:ext>
            </p:extLst>
          </p:nvPr>
        </p:nvGraphicFramePr>
        <p:xfrm>
          <a:off x="1293766" y="1690688"/>
          <a:ext cx="9751604" cy="3810225"/>
        </p:xfrm>
        <a:graphic>
          <a:graphicData uri="http://schemas.openxmlformats.org/drawingml/2006/table">
            <a:tbl>
              <a:tblPr firstRow="1" firstCol="1" bandRow="1">
                <a:tableStyleId>{5C22544A-7EE6-4342-B048-85BDC9FD1C3A}</a:tableStyleId>
              </a:tblPr>
              <a:tblGrid>
                <a:gridCol w="987135">
                  <a:extLst>
                    <a:ext uri="{9D8B030D-6E8A-4147-A177-3AD203B41FA5}">
                      <a16:colId xmlns:a16="http://schemas.microsoft.com/office/drawing/2014/main" val="2044045437"/>
                    </a:ext>
                  </a:extLst>
                </a:gridCol>
                <a:gridCol w="2664844">
                  <a:extLst>
                    <a:ext uri="{9D8B030D-6E8A-4147-A177-3AD203B41FA5}">
                      <a16:colId xmlns:a16="http://schemas.microsoft.com/office/drawing/2014/main" val="355366185"/>
                    </a:ext>
                  </a:extLst>
                </a:gridCol>
                <a:gridCol w="3560088">
                  <a:extLst>
                    <a:ext uri="{9D8B030D-6E8A-4147-A177-3AD203B41FA5}">
                      <a16:colId xmlns:a16="http://schemas.microsoft.com/office/drawing/2014/main" val="3244729360"/>
                    </a:ext>
                  </a:extLst>
                </a:gridCol>
                <a:gridCol w="2539537">
                  <a:extLst>
                    <a:ext uri="{9D8B030D-6E8A-4147-A177-3AD203B41FA5}">
                      <a16:colId xmlns:a16="http://schemas.microsoft.com/office/drawing/2014/main" val="3219622632"/>
                    </a:ext>
                  </a:extLst>
                </a:gridCol>
              </a:tblGrid>
              <a:tr h="1039153">
                <a:tc>
                  <a:txBody>
                    <a:bodyPr/>
                    <a:lstStyle/>
                    <a:p>
                      <a:pPr algn="ctr">
                        <a:spcAft>
                          <a:spcPts val="0"/>
                        </a:spcAft>
                      </a:pPr>
                      <a:r>
                        <a:rPr lang="en-US" sz="1400" dirty="0" err="1">
                          <a:effectLst/>
                          <a:latin typeface="Times New Roman" panose="02020603050405020304" pitchFamily="18" charset="0"/>
                          <a:cs typeface="Times New Roman" panose="02020603050405020304" pitchFamily="18" charset="0"/>
                        </a:rPr>
                        <a:t>S.No</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Major activities </a:t>
                      </a:r>
                      <a:endParaRPr lang="en-IN" sz="1400" dirty="0">
                        <a:effectLst/>
                        <a:latin typeface="Times New Roman" panose="02020603050405020304" pitchFamily="18" charset="0"/>
                        <a:cs typeface="Times New Roman" panose="02020603050405020304" pitchFamily="18" charset="0"/>
                      </a:endParaRPr>
                    </a:p>
                    <a:p>
                      <a:pPr algn="ctr">
                        <a:spcAft>
                          <a:spcPts val="0"/>
                        </a:spcAft>
                      </a:pPr>
                      <a:r>
                        <a:rPr lang="en-US" sz="1400" dirty="0">
                          <a:effectLst/>
                          <a:latin typeface="Times New Roman" panose="02020603050405020304" pitchFamily="18" charset="0"/>
                          <a:cs typeface="Times New Roman" panose="02020603050405020304" pitchFamily="18" charset="0"/>
                        </a:rPr>
                        <a:t>(or mile stones)  to be completed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Target period of completion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Actual date of completion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43376386"/>
                  </a:ext>
                </a:extLst>
              </a:tr>
              <a:tr h="692768">
                <a:tc>
                  <a:txBody>
                    <a:bodyPr/>
                    <a:lstStyle/>
                    <a:p>
                      <a:pPr algn="ctr">
                        <a:spcAft>
                          <a:spcPts val="0"/>
                        </a:spcAft>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February 2025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algn="ct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8673224"/>
                  </a:ext>
                </a:extLst>
              </a:tr>
              <a:tr h="692768">
                <a:tc>
                  <a:txBody>
                    <a:bodyPr/>
                    <a:lstStyle/>
                    <a:p>
                      <a:pPr algn="ctr">
                        <a:spcAft>
                          <a:spcPts val="0"/>
                        </a:spcAft>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March 202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2620161"/>
                  </a:ext>
                </a:extLst>
              </a:tr>
              <a:tr h="692768">
                <a:tc>
                  <a:txBody>
                    <a:bodyPr/>
                    <a:lstStyle/>
                    <a:p>
                      <a:pPr algn="ctr">
                        <a:spcAft>
                          <a:spcPts val="0"/>
                        </a:spcAft>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April 2025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9980619"/>
                  </a:ext>
                </a:extLst>
              </a:tr>
              <a:tr h="692768">
                <a:tc>
                  <a:txBody>
                    <a:bodyPr/>
                    <a:lstStyle/>
                    <a:p>
                      <a:pPr algn="ctr">
                        <a:spcAft>
                          <a:spcPts val="0"/>
                        </a:spcAft>
                      </a:pPr>
                      <a:r>
                        <a:rPr lang="en-US" sz="1400">
                          <a:effectLst/>
                          <a:latin typeface="Times New Roman" panose="02020603050405020304" pitchFamily="18" charset="0"/>
                          <a:cs typeface="Times New Roman" panose="02020603050405020304" pitchFamily="18" charset="0"/>
                        </a:rPr>
                        <a:t>4</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spcAft>
                          <a:spcPts val="0"/>
                        </a:spcAft>
                      </a:pPr>
                      <a:r>
                        <a:rPr lang="en-US" sz="1400" dirty="0">
                          <a:effectLst/>
                          <a:latin typeface="Times New Roman" panose="02020603050405020304" pitchFamily="18" charset="0"/>
                          <a:cs typeface="Times New Roman" panose="02020603050405020304" pitchFamily="18" charset="0"/>
                        </a:rPr>
                        <a:t>May 2025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a:spcAft>
                          <a:spcPts val="0"/>
                        </a:spcAf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92937043"/>
                  </a:ext>
                </a:extLst>
              </a:tr>
            </a:tbl>
          </a:graphicData>
        </a:graphic>
      </p:graphicFrame>
      <p:pic>
        <p:nvPicPr>
          <p:cNvPr id="9" name="Picture 8">
            <a:extLst>
              <a:ext uri="{FF2B5EF4-FFF2-40B4-BE49-F238E27FC236}">
                <a16:creationId xmlns:a16="http://schemas.microsoft.com/office/drawing/2014/main" id="{00982FDE-9600-06E7-F3F7-7A3F93DE3C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314" y="1537131"/>
            <a:ext cx="10530244" cy="4117340"/>
          </a:xfrm>
          <a:prstGeom prst="rect">
            <a:avLst/>
          </a:prstGeom>
        </p:spPr>
      </p:pic>
    </p:spTree>
    <p:extLst>
      <p:ext uri="{BB962C8B-B14F-4D97-AF65-F5344CB8AC3E}">
        <p14:creationId xmlns:p14="http://schemas.microsoft.com/office/powerpoint/2010/main" val="3715557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3200" b="1" dirty="0">
                <a:solidFill>
                  <a:srgbClr val="7030A0"/>
                </a:solidFill>
                <a:latin typeface="Times New Roman" panose="02020603050405020304" pitchFamily="18" charset="0"/>
                <a:cs typeface="Times New Roman" panose="02020603050405020304" pitchFamily="18" charset="0"/>
              </a:rPr>
              <a:t>CONCLUSION</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t>The Project Cost and Timeline Prediction System uses data analytics and machine learning to estimate project duration and budget based on historical data, resources, and task complexity. It supports better planning, efficient resource allocation, and progress visualization, helping organizations reduce delays, control costs, and complete projects on time.</a:t>
            </a:r>
          </a:p>
          <a:p>
            <a:endParaRPr lang="en-IN" dirty="0"/>
          </a:p>
        </p:txBody>
      </p:sp>
      <p:sp>
        <p:nvSpPr>
          <p:cNvPr id="4" name="Date Placeholder 3"/>
          <p:cNvSpPr>
            <a:spLocks noGrp="1"/>
          </p:cNvSpPr>
          <p:nvPr>
            <p:ph type="dt" sz="half" idx="10"/>
          </p:nvPr>
        </p:nvSpPr>
        <p:spPr/>
        <p:txBody>
          <a:bodyPr/>
          <a:lstStyle/>
          <a:p>
            <a:fld id="{EB7FD760-467E-438B-A976-EC3880EE7770}" type="datetime1">
              <a:rPr lang="en-IN" smtClean="0"/>
              <a:t>06-03-2026</a:t>
            </a:fld>
            <a:endParaRPr lang="en-IN"/>
          </a:p>
        </p:txBody>
      </p:sp>
      <p:sp>
        <p:nvSpPr>
          <p:cNvPr id="5" name="Slide Number Placeholder 4"/>
          <p:cNvSpPr>
            <a:spLocks noGrp="1"/>
          </p:cNvSpPr>
          <p:nvPr>
            <p:ph type="sldNum" sz="quarter" idx="12"/>
          </p:nvPr>
        </p:nvSpPr>
        <p:spPr/>
        <p:txBody>
          <a:bodyPr/>
          <a:lstStyle/>
          <a:p>
            <a:fld id="{FF913B45-0786-488C-9F83-DB626DC1C02A}" type="slidenum">
              <a:rPr lang="en-IN" smtClean="0"/>
              <a:t>13</a:t>
            </a:fld>
            <a:endParaRPr lang="en-IN"/>
          </a:p>
        </p:txBody>
      </p:sp>
    </p:spTree>
    <p:extLst>
      <p:ext uri="{BB962C8B-B14F-4D97-AF65-F5344CB8AC3E}">
        <p14:creationId xmlns:p14="http://schemas.microsoft.com/office/powerpoint/2010/main" val="3631237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effectLst>
            <a:glow rad="228600">
              <a:schemeClr val="accent1">
                <a:satMod val="175000"/>
                <a:alpha val="40000"/>
              </a:schemeClr>
            </a:glow>
          </a:effectLst>
        </p:spPr>
        <p:txBody>
          <a:bodyPr>
            <a:normAutofit/>
          </a:bodyPr>
          <a:lstStyle/>
          <a:p>
            <a:pPr algn="ctr" eaLnBrk="1" fontAlgn="auto" hangingPunct="1">
              <a:spcAft>
                <a:spcPts val="0"/>
              </a:spcAft>
              <a:buFont typeface="Arial" panose="020B0604020202020204" pitchFamily="34" charset="0"/>
              <a:buNone/>
              <a:defRPr/>
            </a:pPr>
            <a:endParaRPr lang="en-US" sz="6600" dirty="0">
              <a:latin typeface="Times New Roman" pitchFamily="18" charset="0"/>
              <a:cs typeface="Times New Roman" pitchFamily="18" charset="0"/>
            </a:endParaRPr>
          </a:p>
          <a:p>
            <a:pPr algn="ctr" eaLnBrk="1" fontAlgn="auto" hangingPunct="1">
              <a:spcAft>
                <a:spcPts val="0"/>
              </a:spcAft>
              <a:buFont typeface="Arial" panose="020B0604020202020204" pitchFamily="34" charset="0"/>
              <a:buNone/>
              <a:defRPr/>
            </a:pPr>
            <a:r>
              <a:rPr lang="en-US" sz="6600" b="1" dirty="0">
                <a:solidFill>
                  <a:srgbClr val="6C3EEC"/>
                </a:solidFill>
                <a:latin typeface="Times New Roman" pitchFamily="18" charset="0"/>
                <a:cs typeface="Times New Roman" pitchFamily="18" charset="0"/>
              </a:rPr>
              <a:t>THANK YOU</a:t>
            </a:r>
          </a:p>
        </p:txBody>
      </p:sp>
      <p:sp>
        <p:nvSpPr>
          <p:cNvPr id="7" name="Date Placeholder 6"/>
          <p:cNvSpPr>
            <a:spLocks noGrp="1"/>
          </p:cNvSpPr>
          <p:nvPr>
            <p:ph type="dt" sz="half" idx="10"/>
          </p:nvPr>
        </p:nvSpPr>
        <p:spPr/>
        <p:txBody>
          <a:bodyPr/>
          <a:lstStyle/>
          <a:p>
            <a:fld id="{F6EC7DAD-DA40-454F-BFF0-459A6BD68E0B}" type="datetime1">
              <a:rPr lang="en-IN" smtClean="0"/>
              <a:t>06-03-2026</a:t>
            </a:fld>
            <a:endParaRPr lang="en-IN"/>
          </a:p>
        </p:txBody>
      </p:sp>
      <p:sp>
        <p:nvSpPr>
          <p:cNvPr id="8" name="Slide Number Placeholder 7"/>
          <p:cNvSpPr>
            <a:spLocks noGrp="1"/>
          </p:cNvSpPr>
          <p:nvPr>
            <p:ph type="sldNum" sz="quarter" idx="12"/>
          </p:nvPr>
        </p:nvSpPr>
        <p:spPr/>
        <p:txBody>
          <a:bodyPr/>
          <a:lstStyle/>
          <a:p>
            <a:fld id="{FF913B45-0786-488C-9F83-DB626DC1C02A}" type="slidenum">
              <a:rPr lang="en-IN" smtClean="0"/>
              <a:t>14</a:t>
            </a:fld>
            <a:endParaRPr lang="en-IN"/>
          </a:p>
        </p:txBody>
      </p:sp>
    </p:spTree>
    <p:extLst>
      <p:ext uri="{BB962C8B-B14F-4D97-AF65-F5344CB8AC3E}">
        <p14:creationId xmlns:p14="http://schemas.microsoft.com/office/powerpoint/2010/main" val="883087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405</Words>
  <Application>Microsoft Office PowerPoint</Application>
  <PresentationFormat>Widescreen</PresentationFormat>
  <Paragraphs>148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PowerPoint Presentation</vt:lpstr>
      <vt:lpstr>PowerPoint Presentation</vt:lpstr>
      <vt:lpstr> CHALLENGE STATEMENT   </vt:lpstr>
      <vt:lpstr>PowerPoint Presentation</vt:lpstr>
      <vt:lpstr>CONCEPT / SCOPE OF SOLUTION</vt:lpstr>
      <vt:lpstr>LITERATURE SURVEY /  BACKGROUND STUDY</vt:lpstr>
      <vt:lpstr>EXISTING  METHOD</vt:lpstr>
      <vt:lpstr>PROPOSED / INNOVATIVE METHOD</vt:lpstr>
      <vt:lpstr>BLOCK / SCHEMATIC DIAGRAM</vt:lpstr>
      <vt:lpstr>USE CASE DIAGRAM</vt:lpstr>
      <vt:lpstr>TECHNOLOGY USED</vt:lpstr>
      <vt:lpstr>Action Plan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adria anand</cp:lastModifiedBy>
  <cp:revision>17</cp:revision>
  <dcterms:created xsi:type="dcterms:W3CDTF">2025-03-03T05:54:36Z</dcterms:created>
  <dcterms:modified xsi:type="dcterms:W3CDTF">2026-03-06T05:08:06Z</dcterms:modified>
</cp:coreProperties>
</file>